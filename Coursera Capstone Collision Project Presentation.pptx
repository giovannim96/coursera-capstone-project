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09" r:id="rId1"/>
  </p:sldMasterIdLst>
  <p:sldIdLst>
    <p:sldId id="256" r:id="rId2"/>
    <p:sldId id="266" r:id="rId3"/>
    <p:sldId id="267" r:id="rId4"/>
    <p:sldId id="264" r:id="rId5"/>
    <p:sldId id="263" r:id="rId6"/>
    <p:sldId id="257" r:id="rId7"/>
    <p:sldId id="268" r:id="rId8"/>
    <p:sldId id="258" r:id="rId9"/>
    <p:sldId id="269" r:id="rId10"/>
    <p:sldId id="259" r:id="rId11"/>
    <p:sldId id="270" r:id="rId12"/>
    <p:sldId id="265" r:id="rId13"/>
    <p:sldId id="271" r:id="rId14"/>
    <p:sldId id="261" r:id="rId15"/>
    <p:sldId id="262" r:id="rId16"/>
    <p:sldId id="272"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2"/>
    <p:restoredTop sz="95345"/>
  </p:normalViewPr>
  <p:slideViewPr>
    <p:cSldViewPr snapToGrid="0" snapToObjects="1">
      <p:cViewPr>
        <p:scale>
          <a:sx n="113" d="100"/>
          <a:sy n="113" d="100"/>
        </p:scale>
        <p:origin x="272"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5.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9853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7095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62842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9/19/20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3842962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1430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94639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0715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9/19/20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2229795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5406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9641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204712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078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500347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9513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41511265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9/19/20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6420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9/19/20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52732323"/>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 id="2147483823" r:id="rId14"/>
    <p:sldLayoutId id="2147483824" r:id="rId15"/>
    <p:sldLayoutId id="2147483825"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s3.us.cloud-object-storage.appdomain.cloud/cf-courses-data/CognitiveClass/DP0701EN/version-2/Data-Collisions.csv"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04F77-BE3D-DE47-8D86-A9D134B29546}"/>
              </a:ext>
            </a:extLst>
          </p:cNvPr>
          <p:cNvSpPr>
            <a:spLocks noGrp="1"/>
          </p:cNvSpPr>
          <p:nvPr>
            <p:ph type="ctrTitle"/>
          </p:nvPr>
        </p:nvSpPr>
        <p:spPr>
          <a:xfrm>
            <a:off x="1820152" y="1490133"/>
            <a:ext cx="7066844" cy="2140185"/>
          </a:xfrm>
        </p:spPr>
        <p:txBody>
          <a:bodyPr>
            <a:noAutofit/>
          </a:bodyPr>
          <a:lstStyle/>
          <a:p>
            <a:pPr algn="ctr"/>
            <a:r>
              <a:rPr lang="en-IT" sz="6600" dirty="0"/>
              <a:t>Predicting Siattle Collisions </a:t>
            </a:r>
          </a:p>
        </p:txBody>
      </p:sp>
      <p:sp>
        <p:nvSpPr>
          <p:cNvPr id="3" name="Subtitle 2">
            <a:extLst>
              <a:ext uri="{FF2B5EF4-FFF2-40B4-BE49-F238E27FC236}">
                <a16:creationId xmlns:a16="http://schemas.microsoft.com/office/drawing/2014/main" id="{2296214C-EC19-9C43-AA7A-1F2A3A430949}"/>
              </a:ext>
            </a:extLst>
          </p:cNvPr>
          <p:cNvSpPr>
            <a:spLocks noGrp="1"/>
          </p:cNvSpPr>
          <p:nvPr>
            <p:ph type="subTitle" idx="1"/>
          </p:nvPr>
        </p:nvSpPr>
        <p:spPr>
          <a:xfrm>
            <a:off x="3709811" y="3630318"/>
            <a:ext cx="3361448" cy="1517414"/>
          </a:xfrm>
        </p:spPr>
        <p:txBody>
          <a:bodyPr>
            <a:normAutofit/>
          </a:bodyPr>
          <a:lstStyle/>
          <a:p>
            <a:pPr algn="ctr"/>
            <a:r>
              <a:rPr lang="en-IT" sz="2000" dirty="0"/>
              <a:t>Coursera Capstone Project</a:t>
            </a:r>
          </a:p>
        </p:txBody>
      </p:sp>
    </p:spTree>
    <p:extLst>
      <p:ext uri="{BB962C8B-B14F-4D97-AF65-F5344CB8AC3E}">
        <p14:creationId xmlns:p14="http://schemas.microsoft.com/office/powerpoint/2010/main" val="2465352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6942-5A21-5645-87DC-15210E7B0548}"/>
              </a:ext>
            </a:extLst>
          </p:cNvPr>
          <p:cNvSpPr>
            <a:spLocks noGrp="1"/>
          </p:cNvSpPr>
          <p:nvPr>
            <p:ph type="title"/>
          </p:nvPr>
        </p:nvSpPr>
        <p:spPr/>
        <p:txBody>
          <a:bodyPr>
            <a:normAutofit fontScale="90000"/>
          </a:bodyPr>
          <a:lstStyle/>
          <a:p>
            <a:r>
              <a:rPr lang="en-IT" dirty="0"/>
              <a:t>Predictiong collisions number is valuable for </a:t>
            </a:r>
            <a:br>
              <a:rPr lang="en-IT" dirty="0"/>
            </a:br>
            <a:r>
              <a:rPr lang="en-IT" dirty="0"/>
              <a:t>Transportation Departments</a:t>
            </a:r>
          </a:p>
        </p:txBody>
      </p:sp>
      <p:sp>
        <p:nvSpPr>
          <p:cNvPr id="3" name="Content Placeholder 2">
            <a:extLst>
              <a:ext uri="{FF2B5EF4-FFF2-40B4-BE49-F238E27FC236}">
                <a16:creationId xmlns:a16="http://schemas.microsoft.com/office/drawing/2014/main" id="{47B2B608-2431-C24E-B1BB-68B103A7B9D2}"/>
              </a:ext>
            </a:extLst>
          </p:cNvPr>
          <p:cNvSpPr>
            <a:spLocks noGrp="1"/>
          </p:cNvSpPr>
          <p:nvPr>
            <p:ph idx="1"/>
          </p:nvPr>
        </p:nvSpPr>
        <p:spPr/>
        <p:txBody>
          <a:bodyPr/>
          <a:lstStyle/>
          <a:p>
            <a:pPr>
              <a:buFont typeface="Wingdings" pitchFamily="2" charset="2"/>
              <a:buChar char="§"/>
            </a:pPr>
            <a:r>
              <a:rPr lang="en-GB" dirty="0"/>
              <a:t>Generally, drivers don’t think to the driving risks. Therefore, a public prevision system involved to forecast accidents may be a competitive and economic advantages to the community.</a:t>
            </a:r>
          </a:p>
          <a:p>
            <a:pPr>
              <a:buFont typeface="Wingdings" pitchFamily="2" charset="2"/>
              <a:buChar char="§"/>
            </a:pPr>
            <a:r>
              <a:rPr lang="en-GB" dirty="0"/>
              <a:t>These measures, incidentally, present an urgent challenge – road accidents are one of the mainly cause of loss of human life in Europe.</a:t>
            </a:r>
          </a:p>
          <a:p>
            <a:pPr>
              <a:buFont typeface="Wingdings" pitchFamily="2" charset="2"/>
              <a:buChar char="§"/>
            </a:pPr>
            <a:r>
              <a:rPr lang="en-GB" dirty="0"/>
              <a:t>Predicting the probability of risk collision could many sides. </a:t>
            </a:r>
          </a:p>
          <a:p>
            <a:pPr marL="457200" lvl="1" indent="0">
              <a:buNone/>
            </a:pPr>
            <a:r>
              <a:rPr lang="en-GB" dirty="0"/>
              <a:t>○  </a:t>
            </a:r>
            <a:r>
              <a:rPr lang="en-IT" dirty="0"/>
              <a:t>Drivers advised by the on-board computer or smartphone to the safest route. </a:t>
            </a:r>
          </a:p>
          <a:p>
            <a:pPr marL="457200" lvl="1" indent="0">
              <a:buNone/>
            </a:pPr>
            <a:r>
              <a:rPr lang="en-GB" dirty="0"/>
              <a:t>○  </a:t>
            </a:r>
            <a:r>
              <a:rPr lang="en-IT" dirty="0"/>
              <a:t>The police prepeared to monitor risky roads in advance. </a:t>
            </a:r>
            <a:endParaRPr lang="en-GB" dirty="0"/>
          </a:p>
          <a:p>
            <a:pPr marL="457200" lvl="1" indent="0">
              <a:buNone/>
            </a:pPr>
            <a:r>
              <a:rPr lang="en-GB" dirty="0"/>
              <a:t>○  The hospital administration</a:t>
            </a:r>
            <a:r>
              <a:rPr lang="en-IT" dirty="0"/>
              <a:t> prepeared for rescue faster and quicker.</a:t>
            </a:r>
          </a:p>
        </p:txBody>
      </p:sp>
      <p:pic>
        <p:nvPicPr>
          <p:cNvPr id="1025" name="Picture 1" descr="page2image3722685296">
            <a:extLst>
              <a:ext uri="{FF2B5EF4-FFF2-40B4-BE49-F238E27FC236}">
                <a16:creationId xmlns:a16="http://schemas.microsoft.com/office/drawing/2014/main" id="{CBC9281B-F269-014C-84E9-423B76F5E3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217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7061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280B-7589-2643-B7C3-87DCE26D8AA9}"/>
              </a:ext>
            </a:extLst>
          </p:cNvPr>
          <p:cNvSpPr>
            <a:spLocks noGrp="1"/>
          </p:cNvSpPr>
          <p:nvPr>
            <p:ph type="title"/>
          </p:nvPr>
        </p:nvSpPr>
        <p:spPr/>
        <p:txBody>
          <a:bodyPr/>
          <a:lstStyle/>
          <a:p>
            <a:r>
              <a:rPr lang="en-IT" dirty="0"/>
              <a:t>Data acquisition and cleaning</a:t>
            </a:r>
          </a:p>
        </p:txBody>
      </p:sp>
      <p:sp>
        <p:nvSpPr>
          <p:cNvPr id="3" name="Content Placeholder 2">
            <a:extLst>
              <a:ext uri="{FF2B5EF4-FFF2-40B4-BE49-F238E27FC236}">
                <a16:creationId xmlns:a16="http://schemas.microsoft.com/office/drawing/2014/main" id="{EFE32127-E525-F544-B7DC-5B2220E673B2}"/>
              </a:ext>
            </a:extLst>
          </p:cNvPr>
          <p:cNvSpPr>
            <a:spLocks noGrp="1"/>
          </p:cNvSpPr>
          <p:nvPr>
            <p:ph idx="1"/>
          </p:nvPr>
        </p:nvSpPr>
        <p:spPr/>
        <p:txBody>
          <a:bodyPr/>
          <a:lstStyle/>
          <a:p>
            <a:pPr>
              <a:buFont typeface="Wingdings" pitchFamily="2" charset="2"/>
              <a:buChar char="§"/>
            </a:pPr>
            <a:r>
              <a:rPr lang="en-GB" sz="2000" dirty="0"/>
              <a:t>Light conditions, road conditions, weather, location, type of junctions, location, day and time (2004-present) from </a:t>
            </a:r>
            <a:r>
              <a:rPr lang="en-GB" sz="2000" dirty="0">
                <a:hlinkClick r:id="rId2"/>
              </a:rPr>
              <a:t>Coursera dataset</a:t>
            </a:r>
            <a:endParaRPr lang="en-GB" sz="2000" dirty="0"/>
          </a:p>
          <a:p>
            <a:pPr>
              <a:buFont typeface="Wingdings" pitchFamily="2" charset="2"/>
              <a:buChar char="§"/>
            </a:pPr>
            <a:r>
              <a:rPr lang="en-GB" sz="2000" dirty="0"/>
              <a:t>In total, </a:t>
            </a:r>
            <a:r>
              <a:rPr lang="en-IT" sz="2000" dirty="0"/>
              <a:t>194673 rows and 38</a:t>
            </a:r>
            <a:r>
              <a:rPr lang="en-GB" sz="2000" dirty="0"/>
              <a:t> features in the raw dataset. </a:t>
            </a:r>
          </a:p>
          <a:p>
            <a:pPr>
              <a:buFont typeface="Wingdings" pitchFamily="2" charset="2"/>
              <a:buChar char="§"/>
            </a:pPr>
            <a:r>
              <a:rPr lang="en-GB" sz="2000" dirty="0"/>
              <a:t>Null values from coordinates, some features with too much null values or features not strictly related were dropped. </a:t>
            </a:r>
          </a:p>
          <a:p>
            <a:pPr>
              <a:buFont typeface="Wingdings" pitchFamily="2" charset="2"/>
              <a:buChar char="§"/>
            </a:pPr>
            <a:r>
              <a:rPr lang="en-GB" sz="2000" dirty="0"/>
              <a:t>Cleaned data contains </a:t>
            </a:r>
            <a:r>
              <a:rPr lang="en-IT" sz="2000" dirty="0"/>
              <a:t>189339 rows and </a:t>
            </a:r>
            <a:r>
              <a:rPr lang="en-GB" sz="2000" dirty="0"/>
              <a:t>9 features.</a:t>
            </a:r>
          </a:p>
          <a:p>
            <a:endParaRPr lang="en-IT" dirty="0"/>
          </a:p>
        </p:txBody>
      </p:sp>
    </p:spTree>
    <p:extLst>
      <p:ext uri="{BB962C8B-B14F-4D97-AF65-F5344CB8AC3E}">
        <p14:creationId xmlns:p14="http://schemas.microsoft.com/office/powerpoint/2010/main" val="1024108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6C76D-D49A-7C49-B9FC-32DC81F720FE}"/>
              </a:ext>
            </a:extLst>
          </p:cNvPr>
          <p:cNvSpPr>
            <a:spLocks noGrp="1"/>
          </p:cNvSpPr>
          <p:nvPr>
            <p:ph type="title"/>
          </p:nvPr>
        </p:nvSpPr>
        <p:spPr/>
        <p:txBody>
          <a:bodyPr/>
          <a:lstStyle/>
          <a:p>
            <a:r>
              <a:rPr lang="en-IT" dirty="0"/>
              <a:t>The original dataset metadata</a:t>
            </a:r>
          </a:p>
        </p:txBody>
      </p:sp>
      <p:pic>
        <p:nvPicPr>
          <p:cNvPr id="11" name="Content Placeholder 10">
            <a:extLst>
              <a:ext uri="{FF2B5EF4-FFF2-40B4-BE49-F238E27FC236}">
                <a16:creationId xmlns:a16="http://schemas.microsoft.com/office/drawing/2014/main" id="{24E960F7-AB1F-2B4D-86C9-ACD2147C4EC6}"/>
              </a:ext>
            </a:extLst>
          </p:cNvPr>
          <p:cNvPicPr>
            <a:picLocks noGrp="1" noChangeAspect="1"/>
          </p:cNvPicPr>
          <p:nvPr>
            <p:ph idx="1"/>
          </p:nvPr>
        </p:nvPicPr>
        <p:blipFill>
          <a:blip r:embed="rId2"/>
          <a:stretch>
            <a:fillRect/>
          </a:stretch>
        </p:blipFill>
        <p:spPr>
          <a:xfrm>
            <a:off x="677334" y="1384300"/>
            <a:ext cx="5753100" cy="2311400"/>
          </a:xfrm>
        </p:spPr>
      </p:pic>
      <p:pic>
        <p:nvPicPr>
          <p:cNvPr id="13" name="Picture 12">
            <a:extLst>
              <a:ext uri="{FF2B5EF4-FFF2-40B4-BE49-F238E27FC236}">
                <a16:creationId xmlns:a16="http://schemas.microsoft.com/office/drawing/2014/main" id="{13C46EDC-D56E-6F47-ACCD-9A43103F3292}"/>
              </a:ext>
            </a:extLst>
          </p:cNvPr>
          <p:cNvPicPr>
            <a:picLocks noChangeAspect="1"/>
          </p:cNvPicPr>
          <p:nvPr/>
        </p:nvPicPr>
        <p:blipFill>
          <a:blip r:embed="rId3"/>
          <a:stretch>
            <a:fillRect/>
          </a:stretch>
        </p:blipFill>
        <p:spPr>
          <a:xfrm>
            <a:off x="6430434" y="1384300"/>
            <a:ext cx="4406899" cy="5303879"/>
          </a:xfrm>
          <a:prstGeom prst="rect">
            <a:avLst/>
          </a:prstGeom>
        </p:spPr>
      </p:pic>
      <p:pic>
        <p:nvPicPr>
          <p:cNvPr id="15" name="Picture 14">
            <a:extLst>
              <a:ext uri="{FF2B5EF4-FFF2-40B4-BE49-F238E27FC236}">
                <a16:creationId xmlns:a16="http://schemas.microsoft.com/office/drawing/2014/main" id="{2DBA62E6-D190-5C4E-B027-84AF08C4E52B}"/>
              </a:ext>
            </a:extLst>
          </p:cNvPr>
          <p:cNvPicPr>
            <a:picLocks noChangeAspect="1"/>
          </p:cNvPicPr>
          <p:nvPr/>
        </p:nvPicPr>
        <p:blipFill>
          <a:blip r:embed="rId4"/>
          <a:stretch>
            <a:fillRect/>
          </a:stretch>
        </p:blipFill>
        <p:spPr>
          <a:xfrm>
            <a:off x="677334" y="3663244"/>
            <a:ext cx="5753100" cy="3042356"/>
          </a:xfrm>
          <a:prstGeom prst="rect">
            <a:avLst/>
          </a:prstGeom>
        </p:spPr>
      </p:pic>
    </p:spTree>
    <p:extLst>
      <p:ext uri="{BB962C8B-B14F-4D97-AF65-F5344CB8AC3E}">
        <p14:creationId xmlns:p14="http://schemas.microsoft.com/office/powerpoint/2010/main" val="1114694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411C6-2377-444D-8553-36550B6232E4}"/>
              </a:ext>
            </a:extLst>
          </p:cNvPr>
          <p:cNvSpPr>
            <a:spLocks noGrp="1"/>
          </p:cNvSpPr>
          <p:nvPr>
            <p:ph type="title"/>
          </p:nvPr>
        </p:nvSpPr>
        <p:spPr/>
        <p:txBody>
          <a:bodyPr/>
          <a:lstStyle/>
          <a:p>
            <a:r>
              <a:rPr lang="en-IT" dirty="0"/>
              <a:t>The dataframe final structure ready to analisys and fit models</a:t>
            </a:r>
          </a:p>
        </p:txBody>
      </p:sp>
      <p:pic>
        <p:nvPicPr>
          <p:cNvPr id="9" name="Content Placeholder 8">
            <a:extLst>
              <a:ext uri="{FF2B5EF4-FFF2-40B4-BE49-F238E27FC236}">
                <a16:creationId xmlns:a16="http://schemas.microsoft.com/office/drawing/2014/main" id="{FF84DC1B-0413-3343-A3B0-1C28CF396CE1}"/>
              </a:ext>
            </a:extLst>
          </p:cNvPr>
          <p:cNvPicPr>
            <a:picLocks noGrp="1" noChangeAspect="1"/>
          </p:cNvPicPr>
          <p:nvPr>
            <p:ph idx="1"/>
          </p:nvPr>
        </p:nvPicPr>
        <p:blipFill>
          <a:blip r:embed="rId2"/>
          <a:stretch>
            <a:fillRect/>
          </a:stretch>
        </p:blipFill>
        <p:spPr>
          <a:xfrm>
            <a:off x="192441" y="2449689"/>
            <a:ext cx="9613484" cy="2252142"/>
          </a:xfrm>
        </p:spPr>
      </p:pic>
    </p:spTree>
    <p:extLst>
      <p:ext uri="{BB962C8B-B14F-4D97-AF65-F5344CB8AC3E}">
        <p14:creationId xmlns:p14="http://schemas.microsoft.com/office/powerpoint/2010/main" val="4172315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AD8C9-1766-3542-B837-D2D1FC56D4A0}"/>
              </a:ext>
            </a:extLst>
          </p:cNvPr>
          <p:cNvSpPr>
            <a:spLocks noGrp="1"/>
          </p:cNvSpPr>
          <p:nvPr>
            <p:ph type="title"/>
          </p:nvPr>
        </p:nvSpPr>
        <p:spPr/>
        <p:txBody>
          <a:bodyPr>
            <a:normAutofit/>
          </a:bodyPr>
          <a:lstStyle/>
          <a:p>
            <a:r>
              <a:rPr lang="en-IT" dirty="0"/>
              <a:t>Most of the cases involved property damage, nearly half with injury</a:t>
            </a:r>
            <a:endParaRPr lang="en-IT" sz="2000" dirty="0">
              <a:solidFill>
                <a:schemeClr val="tx1"/>
              </a:solidFill>
            </a:endParaRPr>
          </a:p>
        </p:txBody>
      </p:sp>
      <p:pic>
        <p:nvPicPr>
          <p:cNvPr id="5" name="Content Placeholder 4">
            <a:extLst>
              <a:ext uri="{FF2B5EF4-FFF2-40B4-BE49-F238E27FC236}">
                <a16:creationId xmlns:a16="http://schemas.microsoft.com/office/drawing/2014/main" id="{E4C0E3BB-C06D-1B4D-95E9-17957D7CA6D1}"/>
              </a:ext>
            </a:extLst>
          </p:cNvPr>
          <p:cNvPicPr>
            <a:picLocks noGrp="1" noChangeAspect="1"/>
          </p:cNvPicPr>
          <p:nvPr>
            <p:ph idx="1"/>
          </p:nvPr>
        </p:nvPicPr>
        <p:blipFill>
          <a:blip r:embed="rId2"/>
          <a:stretch>
            <a:fillRect/>
          </a:stretch>
        </p:blipFill>
        <p:spPr>
          <a:xfrm>
            <a:off x="478279" y="1800547"/>
            <a:ext cx="7119143" cy="4918811"/>
          </a:xfrm>
        </p:spPr>
      </p:pic>
    </p:spTree>
    <p:extLst>
      <p:ext uri="{BB962C8B-B14F-4D97-AF65-F5344CB8AC3E}">
        <p14:creationId xmlns:p14="http://schemas.microsoft.com/office/powerpoint/2010/main" val="1823388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567FA-17B8-9747-A006-EF0CC99C4F87}"/>
              </a:ext>
            </a:extLst>
          </p:cNvPr>
          <p:cNvSpPr>
            <a:spLocks noGrp="1"/>
          </p:cNvSpPr>
          <p:nvPr>
            <p:ph type="title"/>
          </p:nvPr>
        </p:nvSpPr>
        <p:spPr/>
        <p:txBody>
          <a:bodyPr>
            <a:normAutofit/>
          </a:bodyPr>
          <a:lstStyle/>
          <a:p>
            <a:r>
              <a:rPr lang="en-IT" dirty="0"/>
              <a:t>The highest category involves in the week days, and not in the weekends</a:t>
            </a:r>
          </a:p>
        </p:txBody>
      </p:sp>
      <p:pic>
        <p:nvPicPr>
          <p:cNvPr id="7" name="Content Placeholder 6">
            <a:extLst>
              <a:ext uri="{FF2B5EF4-FFF2-40B4-BE49-F238E27FC236}">
                <a16:creationId xmlns:a16="http://schemas.microsoft.com/office/drawing/2014/main" id="{AB6479B5-033F-D14A-A9B0-BE4E44026602}"/>
              </a:ext>
            </a:extLst>
          </p:cNvPr>
          <p:cNvPicPr>
            <a:picLocks noGrp="1"/>
          </p:cNvPicPr>
          <p:nvPr>
            <p:ph idx="1"/>
          </p:nvPr>
        </p:nvPicPr>
        <p:blipFill>
          <a:blip r:embed="rId2"/>
          <a:stretch>
            <a:fillRect/>
          </a:stretch>
        </p:blipFill>
        <p:spPr>
          <a:xfrm>
            <a:off x="451556" y="1761067"/>
            <a:ext cx="6524977" cy="4958292"/>
          </a:xfrm>
          <a:prstGeom prst="rect">
            <a:avLst/>
          </a:prstGeom>
        </p:spPr>
      </p:pic>
    </p:spTree>
    <p:extLst>
      <p:ext uri="{BB962C8B-B14F-4D97-AF65-F5344CB8AC3E}">
        <p14:creationId xmlns:p14="http://schemas.microsoft.com/office/powerpoint/2010/main" val="2412035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93504-23BE-9344-8380-ECDC406C675E}"/>
              </a:ext>
            </a:extLst>
          </p:cNvPr>
          <p:cNvSpPr>
            <a:spLocks noGrp="1"/>
          </p:cNvSpPr>
          <p:nvPr>
            <p:ph type="title"/>
          </p:nvPr>
        </p:nvSpPr>
        <p:spPr>
          <a:xfrm>
            <a:off x="801511" y="609600"/>
            <a:ext cx="8929511" cy="1320800"/>
          </a:xfrm>
        </p:spPr>
        <p:txBody>
          <a:bodyPr>
            <a:noAutofit/>
          </a:bodyPr>
          <a:lstStyle/>
          <a:p>
            <a:r>
              <a:rPr lang="en-IT" sz="3200" dirty="0"/>
              <a:t>Mostly of accidents happen on the daylyght or when there are the street lights on, a much lower amount in other conditions</a:t>
            </a:r>
          </a:p>
        </p:txBody>
      </p:sp>
      <p:pic>
        <p:nvPicPr>
          <p:cNvPr id="7" name="Picture 6">
            <a:extLst>
              <a:ext uri="{FF2B5EF4-FFF2-40B4-BE49-F238E27FC236}">
                <a16:creationId xmlns:a16="http://schemas.microsoft.com/office/drawing/2014/main" id="{437FE4E8-E1AE-8646-883E-4BE86B585AE8}"/>
              </a:ext>
            </a:extLst>
          </p:cNvPr>
          <p:cNvPicPr>
            <a:picLocks noChangeAspect="1"/>
          </p:cNvPicPr>
          <p:nvPr/>
        </p:nvPicPr>
        <p:blipFill>
          <a:blip r:embed="rId2"/>
          <a:stretch>
            <a:fillRect/>
          </a:stretch>
        </p:blipFill>
        <p:spPr>
          <a:xfrm>
            <a:off x="801511" y="2041188"/>
            <a:ext cx="6581422" cy="4816812"/>
          </a:xfrm>
          <a:prstGeom prst="rect">
            <a:avLst/>
          </a:prstGeom>
        </p:spPr>
      </p:pic>
    </p:spTree>
    <p:extLst>
      <p:ext uri="{BB962C8B-B14F-4D97-AF65-F5344CB8AC3E}">
        <p14:creationId xmlns:p14="http://schemas.microsoft.com/office/powerpoint/2010/main" val="2606258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F03A-10DE-9646-B914-41CA948EFD90}"/>
              </a:ext>
            </a:extLst>
          </p:cNvPr>
          <p:cNvSpPr>
            <a:spLocks noGrp="1"/>
          </p:cNvSpPr>
          <p:nvPr>
            <p:ph type="title"/>
          </p:nvPr>
        </p:nvSpPr>
        <p:spPr/>
        <p:txBody>
          <a:bodyPr>
            <a:normAutofit fontScale="90000"/>
          </a:bodyPr>
          <a:lstStyle/>
          <a:p>
            <a:r>
              <a:rPr lang="en-IT" dirty="0"/>
              <a:t>Most vehicle accidents occur during the best weather conditions during the day, raining and overcast are quite influencing, more</a:t>
            </a:r>
          </a:p>
        </p:txBody>
      </p:sp>
      <p:pic>
        <p:nvPicPr>
          <p:cNvPr id="5" name="Picture 4">
            <a:extLst>
              <a:ext uri="{FF2B5EF4-FFF2-40B4-BE49-F238E27FC236}">
                <a16:creationId xmlns:a16="http://schemas.microsoft.com/office/drawing/2014/main" id="{1BE31B88-9457-1549-937F-47DDB2F81FB9}"/>
              </a:ext>
            </a:extLst>
          </p:cNvPr>
          <p:cNvPicPr>
            <a:picLocks noChangeAspect="1"/>
          </p:cNvPicPr>
          <p:nvPr/>
        </p:nvPicPr>
        <p:blipFill>
          <a:blip r:embed="rId2"/>
          <a:stretch>
            <a:fillRect/>
          </a:stretch>
        </p:blipFill>
        <p:spPr>
          <a:xfrm>
            <a:off x="439491" y="2154326"/>
            <a:ext cx="6322553" cy="4703674"/>
          </a:xfrm>
          <a:prstGeom prst="rect">
            <a:avLst/>
          </a:prstGeom>
        </p:spPr>
      </p:pic>
      <p:sp>
        <p:nvSpPr>
          <p:cNvPr id="7" name="Rectangle 6">
            <a:extLst>
              <a:ext uri="{FF2B5EF4-FFF2-40B4-BE49-F238E27FC236}">
                <a16:creationId xmlns:a16="http://schemas.microsoft.com/office/drawing/2014/main" id="{47593D9E-B1FD-AF46-B543-32DA7825EC28}"/>
              </a:ext>
            </a:extLst>
          </p:cNvPr>
          <p:cNvSpPr/>
          <p:nvPr/>
        </p:nvSpPr>
        <p:spPr>
          <a:xfrm>
            <a:off x="6912205" y="2154326"/>
            <a:ext cx="2581752" cy="1077218"/>
          </a:xfrm>
          <a:prstGeom prst="rect">
            <a:avLst/>
          </a:prstGeom>
        </p:spPr>
        <p:txBody>
          <a:bodyPr wrap="square">
            <a:spAutoFit/>
          </a:bodyPr>
          <a:lstStyle/>
          <a:p>
            <a:r>
              <a:rPr lang="en-IT" sz="3200" dirty="0">
                <a:solidFill>
                  <a:schemeClr val="accent1">
                    <a:lumMod val="75000"/>
                  </a:schemeClr>
                </a:solidFill>
                <a:latin typeface="+mj-lt"/>
                <a:ea typeface="+mj-ea"/>
                <a:cs typeface="+mj-cs"/>
              </a:rPr>
              <a:t>than other conditions</a:t>
            </a:r>
          </a:p>
        </p:txBody>
      </p:sp>
    </p:spTree>
    <p:extLst>
      <p:ext uri="{BB962C8B-B14F-4D97-AF65-F5344CB8AC3E}">
        <p14:creationId xmlns:p14="http://schemas.microsoft.com/office/powerpoint/2010/main" val="24724272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20C5-4281-D744-A75E-7435281D3F6C}"/>
              </a:ext>
            </a:extLst>
          </p:cNvPr>
          <p:cNvSpPr>
            <a:spLocks noGrp="1"/>
          </p:cNvSpPr>
          <p:nvPr>
            <p:ph type="title"/>
          </p:nvPr>
        </p:nvSpPr>
        <p:spPr/>
        <p:txBody>
          <a:bodyPr>
            <a:normAutofit fontScale="90000"/>
          </a:bodyPr>
          <a:lstStyle/>
          <a:p>
            <a:r>
              <a:rPr lang="en-GB" dirty="0"/>
              <a:t>T</a:t>
            </a:r>
            <a:r>
              <a:rPr lang="en-IT" dirty="0"/>
              <a:t>he road dry is the most frequent condition of collisions, the wet asphalt affect nearly half and much lower for other states</a:t>
            </a:r>
            <a:br>
              <a:rPr lang="en-IT" dirty="0"/>
            </a:br>
            <a:endParaRPr lang="en-IT" dirty="0"/>
          </a:p>
        </p:txBody>
      </p:sp>
      <p:pic>
        <p:nvPicPr>
          <p:cNvPr id="14" name="Content Placeholder 4">
            <a:extLst>
              <a:ext uri="{FF2B5EF4-FFF2-40B4-BE49-F238E27FC236}">
                <a16:creationId xmlns:a16="http://schemas.microsoft.com/office/drawing/2014/main" id="{BCDA4B94-D558-1B42-9D1F-5078F390C16B}"/>
              </a:ext>
            </a:extLst>
          </p:cNvPr>
          <p:cNvPicPr>
            <a:picLocks noChangeAspect="1"/>
          </p:cNvPicPr>
          <p:nvPr/>
        </p:nvPicPr>
        <p:blipFill>
          <a:blip r:embed="rId2"/>
          <a:stretch>
            <a:fillRect/>
          </a:stretch>
        </p:blipFill>
        <p:spPr>
          <a:xfrm>
            <a:off x="417687" y="2054578"/>
            <a:ext cx="7066845" cy="4456290"/>
          </a:xfrm>
          <a:prstGeom prst="rect">
            <a:avLst/>
          </a:prstGeom>
        </p:spPr>
      </p:pic>
      <p:sp>
        <p:nvSpPr>
          <p:cNvPr id="15" name="TextBox 14">
            <a:extLst>
              <a:ext uri="{FF2B5EF4-FFF2-40B4-BE49-F238E27FC236}">
                <a16:creationId xmlns:a16="http://schemas.microsoft.com/office/drawing/2014/main" id="{E19F02DF-C17B-DC41-822C-A29461C70237}"/>
              </a:ext>
            </a:extLst>
          </p:cNvPr>
          <p:cNvSpPr txBox="1"/>
          <p:nvPr/>
        </p:nvSpPr>
        <p:spPr>
          <a:xfrm>
            <a:off x="7484532" y="2528397"/>
            <a:ext cx="2404535" cy="1754326"/>
          </a:xfrm>
          <a:prstGeom prst="rect">
            <a:avLst/>
          </a:prstGeom>
          <a:noFill/>
        </p:spPr>
        <p:txBody>
          <a:bodyPr wrap="square" rtlCol="0">
            <a:spAutoFit/>
          </a:bodyPr>
          <a:lstStyle/>
          <a:p>
            <a:r>
              <a:rPr lang="en-GB" dirty="0"/>
              <a:t>H</a:t>
            </a:r>
            <a:r>
              <a:rPr lang="en-IT" dirty="0"/>
              <a:t>ere could be a bias of unbalacing, may be solved with more data and a standardizaion of number parameters</a:t>
            </a:r>
          </a:p>
        </p:txBody>
      </p:sp>
    </p:spTree>
    <p:extLst>
      <p:ext uri="{BB962C8B-B14F-4D97-AF65-F5344CB8AC3E}">
        <p14:creationId xmlns:p14="http://schemas.microsoft.com/office/powerpoint/2010/main" val="433452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77C5F-32BA-1F40-98F5-7AAEDBC4E31A}"/>
              </a:ext>
            </a:extLst>
          </p:cNvPr>
          <p:cNvSpPr>
            <a:spLocks noGrp="1"/>
          </p:cNvSpPr>
          <p:nvPr>
            <p:ph type="title"/>
          </p:nvPr>
        </p:nvSpPr>
        <p:spPr/>
        <p:txBody>
          <a:bodyPr>
            <a:normAutofit fontScale="90000"/>
          </a:bodyPr>
          <a:lstStyle/>
          <a:p>
            <a:r>
              <a:rPr lang="en-IT" dirty="0"/>
              <a:t>The block, or in a mid-block, or in the proximity of an intersection the risk is higher than elsewhere</a:t>
            </a:r>
            <a:br>
              <a:rPr lang="en-IT" dirty="0"/>
            </a:br>
            <a:endParaRPr lang="en-IT" dirty="0"/>
          </a:p>
        </p:txBody>
      </p:sp>
      <p:pic>
        <p:nvPicPr>
          <p:cNvPr id="4" name="Content Placeholder 4">
            <a:extLst>
              <a:ext uri="{FF2B5EF4-FFF2-40B4-BE49-F238E27FC236}">
                <a16:creationId xmlns:a16="http://schemas.microsoft.com/office/drawing/2014/main" id="{2975DCF1-E0AE-7142-9D64-4175FFF63E50}"/>
              </a:ext>
            </a:extLst>
          </p:cNvPr>
          <p:cNvPicPr>
            <a:picLocks noGrp="1" noChangeAspect="1"/>
          </p:cNvPicPr>
          <p:nvPr>
            <p:ph idx="1"/>
          </p:nvPr>
        </p:nvPicPr>
        <p:blipFill>
          <a:blip r:embed="rId2"/>
          <a:stretch>
            <a:fillRect/>
          </a:stretch>
        </p:blipFill>
        <p:spPr>
          <a:xfrm>
            <a:off x="1422400" y="2043288"/>
            <a:ext cx="5949602" cy="4814711"/>
          </a:xfrm>
        </p:spPr>
      </p:pic>
    </p:spTree>
    <p:extLst>
      <p:ext uri="{BB962C8B-B14F-4D97-AF65-F5344CB8AC3E}">
        <p14:creationId xmlns:p14="http://schemas.microsoft.com/office/powerpoint/2010/main" val="2948563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A2C73B6-A689-B84F-A2D9-B8FF2ED128BA}"/>
              </a:ext>
            </a:extLst>
          </p:cNvPr>
          <p:cNvPicPr>
            <a:picLocks noGrp="1" noChangeAspect="1"/>
          </p:cNvPicPr>
          <p:nvPr>
            <p:ph idx="1"/>
          </p:nvPr>
        </p:nvPicPr>
        <p:blipFill>
          <a:blip r:embed="rId2"/>
          <a:stretch>
            <a:fillRect/>
          </a:stretch>
        </p:blipFill>
        <p:spPr>
          <a:xfrm>
            <a:off x="496711" y="-225057"/>
            <a:ext cx="6201156" cy="7083057"/>
          </a:xfrm>
        </p:spPr>
      </p:pic>
      <p:sp>
        <p:nvSpPr>
          <p:cNvPr id="7" name="Rectangle 6">
            <a:extLst>
              <a:ext uri="{FF2B5EF4-FFF2-40B4-BE49-F238E27FC236}">
                <a16:creationId xmlns:a16="http://schemas.microsoft.com/office/drawing/2014/main" id="{333F5B8A-E8A9-9F47-A14D-763C6017203F}"/>
              </a:ext>
            </a:extLst>
          </p:cNvPr>
          <p:cNvSpPr/>
          <p:nvPr/>
        </p:nvSpPr>
        <p:spPr>
          <a:xfrm>
            <a:off x="5983111" y="2967335"/>
            <a:ext cx="3951111" cy="2831544"/>
          </a:xfrm>
          <a:prstGeom prst="rect">
            <a:avLst/>
          </a:prstGeom>
        </p:spPr>
        <p:txBody>
          <a:bodyPr wrap="square">
            <a:spAutoFit/>
          </a:bodyPr>
          <a:lstStyle/>
          <a:p>
            <a:pPr marL="457200" indent="-457200">
              <a:buFont typeface="Wingdings" pitchFamily="2" charset="2"/>
              <a:buChar char="§"/>
            </a:pPr>
            <a:r>
              <a:rPr lang="en-IT" sz="3200" dirty="0">
                <a:solidFill>
                  <a:schemeClr val="accent1">
                    <a:lumMod val="75000"/>
                  </a:schemeClr>
                </a:solidFill>
                <a:latin typeface="+mj-lt"/>
                <a:ea typeface="+mj-ea"/>
                <a:cs typeface="+mj-cs"/>
              </a:rPr>
              <a:t>The accident location will be an independent variable to put into the model</a:t>
            </a:r>
            <a:br>
              <a:rPr lang="en-IT" dirty="0"/>
            </a:br>
            <a:endParaRPr lang="en-IT" dirty="0"/>
          </a:p>
        </p:txBody>
      </p:sp>
      <p:sp>
        <p:nvSpPr>
          <p:cNvPr id="8" name="Rectangle 7">
            <a:extLst>
              <a:ext uri="{FF2B5EF4-FFF2-40B4-BE49-F238E27FC236}">
                <a16:creationId xmlns:a16="http://schemas.microsoft.com/office/drawing/2014/main" id="{FE07E6F7-9F5C-BA42-B71F-FAE730432915}"/>
              </a:ext>
            </a:extLst>
          </p:cNvPr>
          <p:cNvSpPr/>
          <p:nvPr/>
        </p:nvSpPr>
        <p:spPr>
          <a:xfrm>
            <a:off x="5983111" y="927080"/>
            <a:ext cx="3951111" cy="2062103"/>
          </a:xfrm>
          <a:prstGeom prst="rect">
            <a:avLst/>
          </a:prstGeom>
        </p:spPr>
        <p:txBody>
          <a:bodyPr wrap="square">
            <a:spAutoFit/>
          </a:bodyPr>
          <a:lstStyle/>
          <a:p>
            <a:pPr marL="457200" indent="-457200">
              <a:buFont typeface="Wingdings" pitchFamily="2" charset="2"/>
              <a:buChar char="§"/>
            </a:pPr>
            <a:r>
              <a:rPr lang="en-IT" sz="3200" dirty="0">
                <a:solidFill>
                  <a:schemeClr val="accent1">
                    <a:lumMod val="75000"/>
                  </a:schemeClr>
                </a:solidFill>
                <a:latin typeface="+mj-lt"/>
                <a:ea typeface="+mj-ea"/>
                <a:cs typeface="+mj-cs"/>
              </a:rPr>
              <a:t>The busiest roads have reported the largest number of accidents</a:t>
            </a:r>
          </a:p>
        </p:txBody>
      </p:sp>
    </p:spTree>
    <p:extLst>
      <p:ext uri="{BB962C8B-B14F-4D97-AF65-F5344CB8AC3E}">
        <p14:creationId xmlns:p14="http://schemas.microsoft.com/office/powerpoint/2010/main" val="16357345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60827-DD97-9B4A-8E9E-816F3221F28F}"/>
              </a:ext>
            </a:extLst>
          </p:cNvPr>
          <p:cNvSpPr>
            <a:spLocks noGrp="1"/>
          </p:cNvSpPr>
          <p:nvPr>
            <p:ph type="title"/>
          </p:nvPr>
        </p:nvSpPr>
        <p:spPr/>
        <p:txBody>
          <a:bodyPr/>
          <a:lstStyle/>
          <a:p>
            <a:r>
              <a:rPr lang="en-IT" dirty="0"/>
              <a:t>Classification</a:t>
            </a:r>
          </a:p>
        </p:txBody>
      </p:sp>
      <p:sp>
        <p:nvSpPr>
          <p:cNvPr id="3" name="Content Placeholder 2">
            <a:extLst>
              <a:ext uri="{FF2B5EF4-FFF2-40B4-BE49-F238E27FC236}">
                <a16:creationId xmlns:a16="http://schemas.microsoft.com/office/drawing/2014/main" id="{9803E131-2376-844B-A461-56C0511AA281}"/>
              </a:ext>
            </a:extLst>
          </p:cNvPr>
          <p:cNvSpPr>
            <a:spLocks noGrp="1"/>
          </p:cNvSpPr>
          <p:nvPr>
            <p:ph idx="1"/>
          </p:nvPr>
        </p:nvSpPr>
        <p:spPr/>
        <p:txBody>
          <a:bodyPr/>
          <a:lstStyle/>
          <a:p>
            <a:r>
              <a:rPr lang="en-GB" b="1" dirty="0"/>
              <a:t>K-Nearest </a:t>
            </a:r>
            <a:r>
              <a:rPr lang="en-GB" b="1" dirty="0" err="1"/>
              <a:t>Neighbor</a:t>
            </a:r>
            <a:r>
              <a:rPr lang="en-GB" b="1" dirty="0"/>
              <a:t> (KNN)</a:t>
            </a:r>
          </a:p>
          <a:p>
            <a:r>
              <a:rPr lang="en-GB" dirty="0"/>
              <a:t>KNN will help us predict the severity code of an outcome by finding the most similar to data point within k distance.</a:t>
            </a:r>
          </a:p>
          <a:p>
            <a:r>
              <a:rPr lang="en-GB" b="1" dirty="0"/>
              <a:t>Decision Tree</a:t>
            </a:r>
          </a:p>
          <a:p>
            <a:r>
              <a:rPr lang="en-GB" dirty="0"/>
              <a:t>A decision tree model gives us a layout of all possible outcomes so we can fully </a:t>
            </a:r>
            <a:r>
              <a:rPr lang="en-GB" dirty="0" err="1"/>
              <a:t>analyze</a:t>
            </a:r>
            <a:r>
              <a:rPr lang="en-GB" dirty="0"/>
              <a:t> the </a:t>
            </a:r>
            <a:r>
              <a:rPr lang="en-GB" dirty="0" err="1"/>
              <a:t>concequences</a:t>
            </a:r>
            <a:r>
              <a:rPr lang="en-GB" dirty="0"/>
              <a:t> of a decision. It context, the decision tree observes all possible outcomes of different weather conditions.</a:t>
            </a:r>
          </a:p>
          <a:p>
            <a:r>
              <a:rPr lang="en-GB" b="1" dirty="0"/>
              <a:t>Logistic Regression</a:t>
            </a:r>
          </a:p>
          <a:p>
            <a:r>
              <a:rPr lang="en-GB" dirty="0"/>
              <a:t>Because our dataset only provides us with two severity code outcomes, our model will only predict one of those two classes. This makes our data binary, which is perfect to use with logistic regression.</a:t>
            </a:r>
          </a:p>
          <a:p>
            <a:endParaRPr lang="en-IT" dirty="0"/>
          </a:p>
        </p:txBody>
      </p:sp>
    </p:spTree>
    <p:extLst>
      <p:ext uri="{BB962C8B-B14F-4D97-AF65-F5344CB8AC3E}">
        <p14:creationId xmlns:p14="http://schemas.microsoft.com/office/powerpoint/2010/main" val="922500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F9A9B-DB15-A24E-8834-80A75E7053CA}"/>
              </a:ext>
            </a:extLst>
          </p:cNvPr>
          <p:cNvSpPr>
            <a:spLocks noGrp="1"/>
          </p:cNvSpPr>
          <p:nvPr>
            <p:ph type="title"/>
          </p:nvPr>
        </p:nvSpPr>
        <p:spPr/>
        <p:txBody>
          <a:bodyPr>
            <a:normAutofit/>
          </a:bodyPr>
          <a:lstStyle/>
          <a:p>
            <a:pPr lvl="0" defTabSz="914400" eaLnBrk="0" fontAlgn="base" hangingPunct="0">
              <a:spcAft>
                <a:spcPct val="0"/>
              </a:spcAft>
            </a:pPr>
            <a:r>
              <a:rPr lang="en-IT" altLang="en-IT" sz="3200" dirty="0"/>
              <a:t>SVM performed best among single algorithms, but the differences were small.</a:t>
            </a:r>
            <a:endParaRPr lang="en-IT" sz="3200" dirty="0"/>
          </a:p>
        </p:txBody>
      </p:sp>
      <p:pic>
        <p:nvPicPr>
          <p:cNvPr id="5" name="Content Placeholder 4">
            <a:extLst>
              <a:ext uri="{FF2B5EF4-FFF2-40B4-BE49-F238E27FC236}">
                <a16:creationId xmlns:a16="http://schemas.microsoft.com/office/drawing/2014/main" id="{63689CED-6D5F-8647-A216-671AF1C33BF7}"/>
              </a:ext>
            </a:extLst>
          </p:cNvPr>
          <p:cNvPicPr>
            <a:picLocks noGrp="1" noChangeAspect="1"/>
          </p:cNvPicPr>
          <p:nvPr>
            <p:ph idx="1"/>
          </p:nvPr>
        </p:nvPicPr>
        <p:blipFill>
          <a:blip r:embed="rId2"/>
          <a:stretch>
            <a:fillRect/>
          </a:stretch>
        </p:blipFill>
        <p:spPr>
          <a:xfrm>
            <a:off x="485423" y="2291644"/>
            <a:ext cx="6809586" cy="4576676"/>
          </a:xfrm>
        </p:spPr>
      </p:pic>
      <p:sp>
        <p:nvSpPr>
          <p:cNvPr id="7" name="TextBox 6">
            <a:extLst>
              <a:ext uri="{FF2B5EF4-FFF2-40B4-BE49-F238E27FC236}">
                <a16:creationId xmlns:a16="http://schemas.microsoft.com/office/drawing/2014/main" id="{CBE5682A-8AE7-1C42-9ACD-6C6C06A31DD9}"/>
              </a:ext>
            </a:extLst>
          </p:cNvPr>
          <p:cNvSpPr txBox="1"/>
          <p:nvPr/>
        </p:nvSpPr>
        <p:spPr>
          <a:xfrm>
            <a:off x="7092791" y="2291644"/>
            <a:ext cx="2886587" cy="4524315"/>
          </a:xfrm>
          <a:prstGeom prst="rect">
            <a:avLst/>
          </a:prstGeom>
          <a:noFill/>
        </p:spPr>
        <p:txBody>
          <a:bodyPr wrap="square" rtlCol="0">
            <a:spAutoFit/>
          </a:bodyPr>
          <a:lstStyle/>
          <a:p>
            <a:pPr marL="285750" indent="-285750">
              <a:buFont typeface="Wingdings" pitchFamily="2" charset="2"/>
              <a:buChar char="§"/>
            </a:pPr>
            <a:r>
              <a:rPr lang="en-GB" dirty="0"/>
              <a:t>The tuning process choses 42 the best K is hyperparameter, that creates a model with the highest accuracy</a:t>
            </a:r>
          </a:p>
          <a:p>
            <a:pPr marL="285750" indent="-285750">
              <a:buFont typeface="Wingdings" pitchFamily="2" charset="2"/>
              <a:buChar char="§"/>
            </a:pPr>
            <a:r>
              <a:rPr lang="en-GB" dirty="0"/>
              <a:t>The dangers of high K is that too many dimensions made the distance calculation very complicated and data points become 'further' away from each other (thus not effective neighbours)</a:t>
            </a:r>
          </a:p>
          <a:p>
            <a:br>
              <a:rPr lang="en-GB" dirty="0"/>
            </a:br>
            <a:endParaRPr lang="en-IT" dirty="0"/>
          </a:p>
        </p:txBody>
      </p:sp>
    </p:spTree>
    <p:extLst>
      <p:ext uri="{BB962C8B-B14F-4D97-AF65-F5344CB8AC3E}">
        <p14:creationId xmlns:p14="http://schemas.microsoft.com/office/powerpoint/2010/main" val="39627001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07867-F210-564F-BA22-AD817DFDBCCC}"/>
              </a:ext>
            </a:extLst>
          </p:cNvPr>
          <p:cNvSpPr>
            <a:spLocks noGrp="1"/>
          </p:cNvSpPr>
          <p:nvPr>
            <p:ph type="title"/>
          </p:nvPr>
        </p:nvSpPr>
        <p:spPr>
          <a:xfrm>
            <a:off x="677334" y="609599"/>
            <a:ext cx="8596668" cy="2122311"/>
          </a:xfrm>
        </p:spPr>
        <p:txBody>
          <a:bodyPr>
            <a:normAutofit fontScale="90000"/>
          </a:bodyPr>
          <a:lstStyle/>
          <a:p>
            <a:r>
              <a:rPr lang="en-IT" altLang="en-IT" dirty="0"/>
              <a:t>Logistic Regression and </a:t>
            </a:r>
            <a:r>
              <a:rPr lang="en-GB" dirty="0"/>
              <a:t>Support Vector Machines(</a:t>
            </a:r>
            <a:r>
              <a:rPr lang="en-IT" altLang="en-IT" dirty="0"/>
              <a:t>SVM) performed best among single algorithms, but the differences with </a:t>
            </a:r>
            <a:r>
              <a:rPr lang="en-GB" dirty="0"/>
              <a:t>K-Nearest Neighbour(</a:t>
            </a:r>
            <a:r>
              <a:rPr lang="en-IT" altLang="en-IT" dirty="0"/>
              <a:t>KNN) were small.</a:t>
            </a:r>
            <a:endParaRPr lang="en-IT" dirty="0"/>
          </a:p>
        </p:txBody>
      </p:sp>
      <p:pic>
        <p:nvPicPr>
          <p:cNvPr id="5" name="Content Placeholder 4">
            <a:extLst>
              <a:ext uri="{FF2B5EF4-FFF2-40B4-BE49-F238E27FC236}">
                <a16:creationId xmlns:a16="http://schemas.microsoft.com/office/drawing/2014/main" id="{76BDA445-3834-C041-A9BC-3DA45C013B93}"/>
              </a:ext>
            </a:extLst>
          </p:cNvPr>
          <p:cNvPicPr>
            <a:picLocks noGrp="1" noChangeAspect="1"/>
          </p:cNvPicPr>
          <p:nvPr>
            <p:ph idx="1"/>
          </p:nvPr>
        </p:nvPicPr>
        <p:blipFill>
          <a:blip r:embed="rId2"/>
          <a:stretch>
            <a:fillRect/>
          </a:stretch>
        </p:blipFill>
        <p:spPr>
          <a:xfrm>
            <a:off x="677334" y="2578475"/>
            <a:ext cx="6953955" cy="3585257"/>
          </a:xfrm>
        </p:spPr>
      </p:pic>
    </p:spTree>
    <p:extLst>
      <p:ext uri="{BB962C8B-B14F-4D97-AF65-F5344CB8AC3E}">
        <p14:creationId xmlns:p14="http://schemas.microsoft.com/office/powerpoint/2010/main" val="3986562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A04FD-53EE-1B42-8D88-2B8A02DCD31F}"/>
              </a:ext>
            </a:extLst>
          </p:cNvPr>
          <p:cNvSpPr>
            <a:spLocks noGrp="1"/>
          </p:cNvSpPr>
          <p:nvPr>
            <p:ph type="title"/>
          </p:nvPr>
        </p:nvSpPr>
        <p:spPr/>
        <p:txBody>
          <a:bodyPr/>
          <a:lstStyle/>
          <a:p>
            <a:r>
              <a:rPr lang="en-IT" altLang="en-IT" sz="3200" dirty="0"/>
              <a:t>Conclusion and future directions </a:t>
            </a:r>
            <a:br>
              <a:rPr lang="en-IT" altLang="en-IT" sz="2000" dirty="0">
                <a:solidFill>
                  <a:schemeClr val="tx1"/>
                </a:solidFill>
                <a:latin typeface="Arial" panose="020B0604020202020204" pitchFamily="34" charset="0"/>
              </a:rPr>
            </a:br>
            <a:endParaRPr lang="en-IT" dirty="0"/>
          </a:p>
        </p:txBody>
      </p:sp>
      <p:sp>
        <p:nvSpPr>
          <p:cNvPr id="3" name="Content Placeholder 2">
            <a:extLst>
              <a:ext uri="{FF2B5EF4-FFF2-40B4-BE49-F238E27FC236}">
                <a16:creationId xmlns:a16="http://schemas.microsoft.com/office/drawing/2014/main" id="{62C86F78-6728-904B-AC03-45CCBE22A1DE}"/>
              </a:ext>
            </a:extLst>
          </p:cNvPr>
          <p:cNvSpPr>
            <a:spLocks noGrp="1"/>
          </p:cNvSpPr>
          <p:nvPr>
            <p:ph idx="1"/>
          </p:nvPr>
        </p:nvSpPr>
        <p:spPr/>
        <p:txBody>
          <a:bodyPr>
            <a:normAutofit/>
          </a:bodyPr>
          <a:lstStyle/>
          <a:p>
            <a:pPr>
              <a:buFont typeface="Wingdings" pitchFamily="2" charset="2"/>
              <a:buChar char="§"/>
            </a:pPr>
            <a:r>
              <a:rPr lang="en-GB" dirty="0"/>
              <a:t>Accuracy of the models has room for improvement.</a:t>
            </a:r>
          </a:p>
          <a:p>
            <a:pPr>
              <a:buFont typeface="Wingdings" pitchFamily="2" charset="2"/>
              <a:buChar char="§"/>
            </a:pPr>
            <a:r>
              <a:rPr lang="en-GB" dirty="0"/>
              <a:t>R</a:t>
            </a:r>
            <a:r>
              <a:rPr lang="en-IT" dirty="0"/>
              <a:t>ecord further weather data.</a:t>
            </a:r>
          </a:p>
          <a:p>
            <a:pPr>
              <a:buFont typeface="Wingdings" pitchFamily="2" charset="2"/>
              <a:buChar char="§"/>
            </a:pPr>
            <a:r>
              <a:rPr lang="en-IT" dirty="0"/>
              <a:t>Register all the types of severity</a:t>
            </a:r>
          </a:p>
          <a:p>
            <a:pPr>
              <a:buFont typeface="Wingdings" pitchFamily="2" charset="2"/>
              <a:buChar char="§"/>
            </a:pPr>
            <a:r>
              <a:rPr lang="en-GB" dirty="0"/>
              <a:t>Capture more of traits. Ideas include:</a:t>
            </a:r>
          </a:p>
          <a:p>
            <a:pPr marL="457200" lvl="1" indent="0">
              <a:buNone/>
            </a:pPr>
            <a:r>
              <a:rPr lang="en-GB" dirty="0"/>
              <a:t>○  Physical data (speed, model of vehicle, etc.)</a:t>
            </a:r>
          </a:p>
          <a:p>
            <a:pPr marL="457200" lvl="1" indent="0">
              <a:buNone/>
            </a:pPr>
            <a:r>
              <a:rPr lang="en-GB" dirty="0"/>
              <a:t>○  Driver data (age, driver-points, etc.)</a:t>
            </a:r>
          </a:p>
        </p:txBody>
      </p:sp>
    </p:spTree>
    <p:extLst>
      <p:ext uri="{BB962C8B-B14F-4D97-AF65-F5344CB8AC3E}">
        <p14:creationId xmlns:p14="http://schemas.microsoft.com/office/powerpoint/2010/main" val="324761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130A0-C0DA-5E4D-AE14-0EDD62448196}"/>
              </a:ext>
            </a:extLst>
          </p:cNvPr>
          <p:cNvSpPr>
            <a:spLocks noGrp="1"/>
          </p:cNvSpPr>
          <p:nvPr>
            <p:ph type="title"/>
          </p:nvPr>
        </p:nvSpPr>
        <p:spPr>
          <a:xfrm>
            <a:off x="2963333" y="2108200"/>
            <a:ext cx="6265333" cy="1320800"/>
          </a:xfrm>
        </p:spPr>
        <p:txBody>
          <a:bodyPr>
            <a:noAutofit/>
          </a:bodyPr>
          <a:lstStyle/>
          <a:p>
            <a:r>
              <a:rPr lang="en-GB" sz="6600" dirty="0"/>
              <a:t>Thanks for your attention!</a:t>
            </a:r>
            <a:br>
              <a:rPr lang="en-IT" sz="6600" dirty="0"/>
            </a:br>
            <a:endParaRPr lang="en-IT" sz="6600" dirty="0"/>
          </a:p>
        </p:txBody>
      </p:sp>
    </p:spTree>
    <p:extLst>
      <p:ext uri="{BB962C8B-B14F-4D97-AF65-F5344CB8AC3E}">
        <p14:creationId xmlns:p14="http://schemas.microsoft.com/office/powerpoint/2010/main" val="2297356715"/>
      </p:ext>
    </p:extLst>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{4A5D5D77-1B43-A84F-833C-AE61A59EE3A5}tf10001060</Template>
  <TotalTime>942</TotalTime>
  <Words>631</Words>
  <Application>Microsoft Macintosh PowerPoint</Application>
  <PresentationFormat>Widescreen</PresentationFormat>
  <Paragraphs>46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Trebuchet MS</vt:lpstr>
      <vt:lpstr>Wingdings</vt:lpstr>
      <vt:lpstr>Wingdings 3</vt:lpstr>
      <vt:lpstr>Facet</vt:lpstr>
      <vt:lpstr>Predicting Siattle Collisions </vt:lpstr>
      <vt:lpstr>Predictiong collisions number is valuable for  Transportation Departments</vt:lpstr>
      <vt:lpstr>Data acquisition and cleaning</vt:lpstr>
      <vt:lpstr>The original dataset metadata</vt:lpstr>
      <vt:lpstr>The dataframe final structure ready to analisys and fit models</vt:lpstr>
      <vt:lpstr>Most of the cases involved property damage, nearly half with injury</vt:lpstr>
      <vt:lpstr>The highest category involves in the week days, and not in the weekends</vt:lpstr>
      <vt:lpstr>Mostly of accidents happen on the daylyght or when there are the street lights on, a much lower amount in other conditions</vt:lpstr>
      <vt:lpstr>Most vehicle accidents occur during the best weather conditions during the day, raining and overcast are quite influencing, more</vt:lpstr>
      <vt:lpstr>The road dry is the most frequent condition of collisions, the wet asphalt affect nearly half and much lower for other states </vt:lpstr>
      <vt:lpstr>The block, or in a mid-block, or in the proximity of an intersection the risk is higher than elsewhere </vt:lpstr>
      <vt:lpstr>PowerPoint Presentation</vt:lpstr>
      <vt:lpstr>Classification</vt:lpstr>
      <vt:lpstr>SVM performed best among single algorithms, but the differences were small.</vt:lpstr>
      <vt:lpstr>Logistic Regression and Support Vector Machines(SVM) performed best among single algorithms, but the differences with K-Nearest Neighbour(KNN) were small.</vt:lpstr>
      <vt:lpstr>Conclusion and future directions  </vt:lpstr>
      <vt:lpstr>Thanks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Giovanni Marusso - giovanni.marusso@studio.unibo.it</dc:creator>
  <cp:lastModifiedBy>Giovanni Marusso - giovanni.marusso@studio.unibo.it</cp:lastModifiedBy>
  <cp:revision>19</cp:revision>
  <dcterms:created xsi:type="dcterms:W3CDTF">2020-09-19T17:50:56Z</dcterms:created>
  <dcterms:modified xsi:type="dcterms:W3CDTF">2020-09-20T09:32:57Z</dcterms:modified>
</cp:coreProperties>
</file>